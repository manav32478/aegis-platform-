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6858000"/>
          </a:xfrm>
          <a:prstGeom prst="roundRect">
            <a:avLst>
              <a:gd name="adj" fmla="val 6000"/>
            </a:avLst>
          </a:prstGeom>
          <a:solidFill>
            <a:srgbClr val="0A0E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22960" y="1965960"/>
            <a:ext cx="10515600" cy="3017520"/>
          </a:xfrm>
          <a:prstGeom prst="roundRect">
            <a:avLst>
              <a:gd name="adj" fmla="val 3000"/>
            </a:avLst>
          </a:prstGeom>
          <a:solidFill>
            <a:srgbClr val="141C2E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6EA0FF"/>
                </a:solidFill>
                <a:latin typeface="Segoe UI"/>
              </a:rPr>
              <a:t>MAJOR PROJECT · FINAL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88920"/>
            <a:ext cx="105156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6000" b="1" i="0">
                <a:solidFill>
                  <a:srgbClr val="E7EDF7"/>
                </a:solidFill>
                <a:latin typeface="Segoe UI"/>
              </a:rPr>
              <a:t>Aegis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1188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 i="0">
                <a:solidFill>
                  <a:srgbClr val="E7EDF7"/>
                </a:solidFill>
                <a:latin typeface="Segoe UI"/>
              </a:rPr>
              <a:t>Self-Healing Multi-Cloud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8FA0BD"/>
                </a:solidFill>
                <a:latin typeface="Segoe UI"/>
              </a:rPr>
              <a:t>Run one app across Render · Vercel · Cloud Run  —  monitor, score, route, heal — at ₹0/month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FA0BD"/>
                </a:solidFill>
                <a:latin typeface="Segoe UI"/>
              </a:rPr>
              <a:t>Manav Sarvaiya  ·  B.E. Final Year  ·  2026-09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7EDF7"/>
                </a:solidFill>
                <a:latin typeface="Segoe UI"/>
              </a:rPr>
              <a:t>The Problem → 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54864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FA0BD"/>
                </a:solidFill>
                <a:latin typeface="Segoe UI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FA0BD"/>
                </a:solidFill>
                <a:latin typeface="Segoe UI"/>
              </a:rPr>
              <a:t>Aegis  ·  Self-Healing Multi-Cloud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1463040" cy="31750"/>
          </a:xfrm>
          <a:prstGeom prst="rect">
            <a:avLst/>
          </a:prstGeom>
          <a:solidFill>
            <a:srgbClr val="6E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03520" cy="429768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FF5D6C"/>
                </a:solidFill>
                <a:latin typeface="Segoe UI"/>
              </a:rPr>
              <a:t>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6EA0FF"/>
                </a:solidFill>
                <a:latin typeface="Segoe UI"/>
              </a:rPr>
              <a:t>▸  </a:t>
            </a:r>
            <a:r>
              <a:rPr sz="1600" b="0">
                <a:solidFill>
                  <a:srgbClr val="E7EDF7"/>
                </a:solidFill>
                <a:latin typeface="Segoe UI"/>
              </a:rPr>
              <a:t>One cloud = one point of failure.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6EA0FF"/>
                </a:solidFill>
                <a:latin typeface="Segoe UI"/>
              </a:rPr>
              <a:t>▸  </a:t>
            </a:r>
            <a:r>
              <a:rPr sz="1600" b="0">
                <a:solidFill>
                  <a:srgbClr val="E7EDF7"/>
                </a:solidFill>
                <a:latin typeface="Segoe UI"/>
              </a:rPr>
              <a:t>Free tiers are cheap but unreliable — Render sleeps after ~15 min idle.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6EA0FF"/>
                </a:solidFill>
                <a:latin typeface="Segoe UI"/>
              </a:rPr>
              <a:t>▸  </a:t>
            </a:r>
            <a:r>
              <a:rPr sz="1600" b="0">
                <a:solidFill>
                  <a:srgbClr val="E7EDF7"/>
                </a:solidFill>
                <a:latin typeface="Segoe UI"/>
              </a:rPr>
              <a:t>Commercial multi-cloud / DR tools are expensive and lock you in.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6EA0FF"/>
                </a:solidFill>
                <a:latin typeface="Segoe UI"/>
              </a:rPr>
              <a:t>▸  </a:t>
            </a:r>
            <a:r>
              <a:rPr sz="1600" b="0">
                <a:solidFill>
                  <a:srgbClr val="E7EDF7"/>
                </a:solidFill>
                <a:latin typeface="Segoe UI"/>
              </a:rPr>
              <a:t>No simple, ₹0 way to combine free tiers into something MORE reliable than one paid instance.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828800"/>
            <a:ext cx="5394960" cy="429768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2FD57A"/>
                </a:solidFill>
                <a:latin typeface="Segoe UI"/>
              </a:rPr>
              <a:t>The idea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51460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6EA0FF"/>
                </a:solidFill>
                <a:latin typeface="Segoe UI"/>
              </a:rPr>
              <a:t>▸  </a:t>
            </a:r>
            <a:r>
              <a:rPr sz="1600" b="0">
                <a:solidFill>
                  <a:srgbClr val="E7EDF7"/>
                </a:solidFill>
                <a:latin typeface="Segoe UI"/>
              </a:rPr>
              <a:t>Treat clouds as interchangeable, disposable resources.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6EA0FF"/>
                </a:solidFill>
                <a:latin typeface="Segoe UI"/>
              </a:rPr>
              <a:t>▸  </a:t>
            </a:r>
            <a:r>
              <a:rPr sz="1600" b="0">
                <a:solidFill>
                  <a:srgbClr val="E7EDF7"/>
                </a:solidFill>
                <a:latin typeface="Segoe UI"/>
              </a:rPr>
              <a:t>Probe every cloud every 5 min from OUTSIDE the fleet.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6EA0FF"/>
                </a:solidFill>
                <a:latin typeface="Segoe UI"/>
              </a:rPr>
              <a:t>▸  </a:t>
            </a:r>
            <a:r>
              <a:rPr sz="1600" b="0">
                <a:solidFill>
                  <a:srgbClr val="E7EDF7"/>
                </a:solidFill>
                <a:latin typeface="Segoe UI"/>
              </a:rPr>
              <a:t>Score each cloud 0–100 → route traffic to the healthiest.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6EA0FF"/>
                </a:solidFill>
                <a:latin typeface="Segoe UI"/>
              </a:rPr>
              <a:t>▸  </a:t>
            </a:r>
            <a:r>
              <a:rPr sz="1600" b="0">
                <a:solidFill>
                  <a:srgbClr val="E7EDF7"/>
                </a:solidFill>
                <a:latin typeface="Segoe UI"/>
              </a:rPr>
              <a:t>When one fails: log it, alert, and redeploy automatically — self-healing.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7EDF7"/>
                </a:solidFill>
                <a:latin typeface="Segoe UI"/>
              </a:rPr>
              <a:t>Architecture (microservices)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54864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FA0BD"/>
                </a:solidFill>
                <a:latin typeface="Segoe UI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FA0BD"/>
                </a:solidFill>
                <a:latin typeface="Segoe UI"/>
              </a:rPr>
              <a:t>Aegis  ·  Self-Healing Multi-Cloud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1463040" cy="31750"/>
          </a:xfrm>
          <a:prstGeom prst="rect">
            <a:avLst/>
          </a:prstGeom>
          <a:solidFill>
            <a:srgbClr val="6E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23444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38C8DD"/>
                </a:solidFill>
                <a:latin typeface="Segoe UI"/>
              </a:rPr>
              <a:t>CONTROL PLANE  (web · api · monitor · report — runs locally / Oracle VM)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194560"/>
            <a:ext cx="104241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FA0BD"/>
                </a:solidFill>
                <a:latin typeface="Segoe UI"/>
              </a:rPr>
              <a:t>web:3100  portal+realtime dashboard   ·   api:4000  keys+Swagger+rate-limit   ·   monitor  probe→score→heal→alert   ·   report  daily/weekly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29184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40156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6EA0FF"/>
                </a:solidFill>
                <a:latin typeface="Segoe UI"/>
              </a:rPr>
              <a:t>SUPABASE POSTGRES (free)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0332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FA0BD"/>
                </a:solidFill>
                <a:latin typeface="Segoe UI"/>
              </a:rPr>
              <a:t>health_checks · incidents · alerts · risk_flags · api_keys · audit_log · failover_events · health_reports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343400"/>
            <a:ext cx="3474720" cy="77724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48056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FD57A"/>
                </a:solidFill>
                <a:latin typeface="Segoe UI"/>
              </a:rPr>
              <a:t>Vantage 1
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FA0BD"/>
                </a:solidFill>
                <a:latin typeface="Segoe UI"/>
              </a:rPr>
              <a:t>Cloudflare Worker · cron */5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43400" y="4343400"/>
            <a:ext cx="3474720" cy="77724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448056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FD57A"/>
                </a:solidFill>
                <a:latin typeface="Segoe UI"/>
              </a:rPr>
              <a:t>Vantage 2
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FA0BD"/>
                </a:solidFill>
                <a:latin typeface="Segoe UI"/>
              </a:rPr>
              <a:t>GitHub Actions · cron */5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4343400"/>
            <a:ext cx="3474720" cy="77724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4480560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2FD57A"/>
                </a:solidFill>
                <a:latin typeface="Segoe UI"/>
              </a:rPr>
              <a:t>Vantage 3
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FA0BD"/>
                </a:solidFill>
                <a:latin typeface="Segoe UI"/>
              </a:rPr>
              <a:t>Oracle Always-Free VM · 24/7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5394960"/>
            <a:ext cx="10881360" cy="77724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9525">
            <a:solidFill>
              <a:srgbClr val="6EA0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5504688"/>
            <a:ext cx="10424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50" b="1" i="0">
                <a:solidFill>
                  <a:srgbClr val="FFB454"/>
                </a:solidFill>
                <a:latin typeface="Segoe UI"/>
              </a:rPr>
              <a:t>DATA PLANE (protected — same app, 3 clouds)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806440"/>
            <a:ext cx="104241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FA0BD"/>
                </a:solidFill>
                <a:latin typeface="Segoe UI"/>
              </a:rPr>
              <a:t>Render (free) ✅  ·  Vercel (Hobby) ✅  ·  Cloud Run (free tier) ➕   —   Cloudflare Worker routes to the healthiest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7EDF7"/>
                </a:solidFill>
                <a:latin typeface="Segoe UI"/>
              </a:rPr>
              <a:t>How Aegis scores &amp; routes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54864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FA0BD"/>
                </a:solidFill>
                <a:latin typeface="Segoe UI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FA0BD"/>
                </a:solidFill>
                <a:latin typeface="Segoe UI"/>
              </a:rPr>
              <a:t>Aegis  ·  Self-Healing Multi-Cloud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1463040" cy="31750"/>
          </a:xfrm>
          <a:prstGeom prst="rect">
            <a:avLst/>
          </a:prstGeom>
          <a:solidFill>
            <a:srgbClr val="6E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5303520" cy="429768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7EDF7"/>
                </a:solidFill>
                <a:latin typeface="Segoe UI"/>
              </a:rPr>
              <a:t>Health score (0–100)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14600"/>
            <a:ext cx="47548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800" b="1">
                <a:solidFill>
                  <a:srgbClr val="6EA0FF"/>
                </a:solidFill>
                <a:latin typeface="Segoe UI"/>
              </a:rPr>
              <a:t>▸  </a:t>
            </a:r>
            <a:r>
              <a:rPr sz="1800" b="0">
                <a:solidFill>
                  <a:srgbClr val="E7EDF7"/>
                </a:solidFill>
                <a:latin typeface="Segoe UI"/>
              </a:rPr>
              <a:t>0.5 × uptime %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800" b="1">
                <a:solidFill>
                  <a:srgbClr val="6EA0FF"/>
                </a:solidFill>
                <a:latin typeface="Segoe UI"/>
              </a:rPr>
              <a:t>▸  </a:t>
            </a:r>
            <a:r>
              <a:rPr sz="1800" b="0">
                <a:solidFill>
                  <a:srgbClr val="E7EDF7"/>
                </a:solidFill>
                <a:latin typeface="Segoe UI"/>
              </a:rPr>
              <a:t>0.3 × latency score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800" b="1">
                <a:solidFill>
                  <a:srgbClr val="6EA0FF"/>
                </a:solidFill>
                <a:latin typeface="Segoe UI"/>
              </a:rPr>
              <a:t>▸  </a:t>
            </a:r>
            <a:r>
              <a:rPr sz="1800" b="0">
                <a:solidFill>
                  <a:srgbClr val="E7EDF7"/>
                </a:solidFill>
                <a:latin typeface="Segoe UI"/>
              </a:rPr>
              <a:t>0.2 × (1 − error rate)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4251960"/>
            <a:ext cx="4754880" cy="1645920"/>
          </a:xfrm>
          <a:prstGeom prst="roundRect">
            <a:avLst>
              <a:gd name="adj" fmla="val 6000"/>
            </a:avLst>
          </a:prstGeom>
          <a:solidFill>
            <a:srgbClr val="0A0E17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4389120"/>
            <a:ext cx="429768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FA0BD"/>
                </a:solidFill>
                <a:latin typeface="Segoe UI"/>
              </a:rPr>
              <a:t>Grade bands
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E7EDF7"/>
                </a:solidFill>
                <a:latin typeface="Segoe UI"/>
              </a:rPr>
              <a:t>≥90 Excellent   ·   ≥70 Good
≥50 At risk   ·   &lt;50 Critical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828800"/>
            <a:ext cx="5394960" cy="429768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05740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700" b="1" i="0">
                <a:solidFill>
                  <a:srgbClr val="E7EDF7"/>
                </a:solidFill>
                <a:latin typeface="Segoe UI"/>
              </a:rPr>
              <a:t>Routing decision (deterministic)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514600"/>
            <a:ext cx="47548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6EA0FF"/>
                </a:solidFill>
                <a:latin typeface="Segoe UI"/>
              </a:rPr>
              <a:t>▸  </a:t>
            </a:r>
            <a:r>
              <a:rPr sz="1600" b="0">
                <a:solidFill>
                  <a:srgbClr val="E7EDF7"/>
                </a:solidFill>
                <a:latin typeface="Segoe UI"/>
              </a:rPr>
              <a:t>Rank clouds by health score (desc).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6EA0FF"/>
                </a:solidFill>
                <a:latin typeface="Segoe UI"/>
              </a:rPr>
              <a:t>▸  </a:t>
            </a:r>
            <a:r>
              <a:rPr sz="1600" b="0">
                <a:solidFill>
                  <a:srgbClr val="E7EDF7"/>
                </a:solidFill>
                <a:latin typeface="Segoe UI"/>
              </a:rPr>
              <a:t>Tie-break by lowest latency.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6EA0FF"/>
                </a:solidFill>
                <a:latin typeface="Segoe UI"/>
              </a:rPr>
              <a:t>▸  </a:t>
            </a:r>
            <a:r>
              <a:rPr sz="1600" b="0">
                <a:solidFill>
                  <a:srgbClr val="E7EDF7"/>
                </a:solidFill>
                <a:latin typeface="Segoe UI"/>
              </a:rPr>
              <a:t>Final tie-break by lowest carbon intensity (green routing).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4572000"/>
            <a:ext cx="4754880" cy="1371600"/>
          </a:xfrm>
          <a:prstGeom prst="roundRect">
            <a:avLst>
              <a:gd name="adj" fmla="val 6000"/>
            </a:avLst>
          </a:prstGeom>
          <a:solidFill>
            <a:srgbClr val="0A0E17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709160"/>
            <a:ext cx="4297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FA0BD"/>
                </a:solidFill>
                <a:latin typeface="Segoe UI"/>
              </a:rPr>
              <a:t>Live right now (2026-09-17)
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FD57A"/>
                </a:solidFill>
                <a:latin typeface="Segoe UI"/>
              </a:rPr>
              <a:t>vercel 93 → serve   ·   render 85 → standby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7EDF7"/>
                </a:solidFill>
                <a:latin typeface="Segoe UI"/>
              </a:rPr>
              <a:t>The self-healing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54864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FA0BD"/>
                </a:solidFill>
                <a:latin typeface="Segoe UI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FA0BD"/>
                </a:solidFill>
                <a:latin typeface="Segoe UI"/>
              </a:rPr>
              <a:t>Aegis  ·  Self-Healing Multi-Cloud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1463040" cy="31750"/>
          </a:xfrm>
          <a:prstGeom prst="rect">
            <a:avLst/>
          </a:prstGeom>
          <a:solidFill>
            <a:srgbClr val="6E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1755648" cy="228600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6EA0FF"/>
                </a:solidFill>
                <a:latin typeface="Segoe UI"/>
              </a:rPr>
              <a:t>1 · PROBE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14600"/>
            <a:ext cx="148132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FA0BD"/>
                </a:solidFill>
                <a:latin typeface="Segoe UI"/>
              </a:rPr>
              <a:t>hit /health
5 min, multi-region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14016" y="2880360"/>
            <a:ext cx="164592" cy="365760"/>
          </a:xfrm>
          <a:prstGeom prst="rightArrow">
            <a:avLst/>
          </a:prstGeom>
          <a:solidFill>
            <a:srgbClr val="2A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60320" y="1920240"/>
            <a:ext cx="1755648" cy="228600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97480" y="210312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38C8DD"/>
                </a:solidFill>
                <a:latin typeface="Segoe UI"/>
              </a:rPr>
              <a:t>2 ·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97480" y="2514600"/>
            <a:ext cx="148132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FA0BD"/>
                </a:solidFill>
                <a:latin typeface="Segoe UI"/>
              </a:rPr>
              <a:t>uptime+latency
error rate → 0–100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334256" y="2880360"/>
            <a:ext cx="164592" cy="365760"/>
          </a:xfrm>
          <a:prstGeom prst="rightArrow">
            <a:avLst/>
          </a:prstGeom>
          <a:solidFill>
            <a:srgbClr val="2A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80560" y="1920240"/>
            <a:ext cx="1755648" cy="228600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210312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B454"/>
                </a:solidFill>
                <a:latin typeface="Segoe UI"/>
              </a:rPr>
              <a:t>3 · DETECT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2514600"/>
            <a:ext cx="148132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FA0BD"/>
                </a:solidFill>
                <a:latin typeface="Segoe UI"/>
              </a:rPr>
              <a:t>3 failures in a row
→ incident opens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6254496" y="2880360"/>
            <a:ext cx="164592" cy="365760"/>
          </a:xfrm>
          <a:prstGeom prst="rightArrow">
            <a:avLst/>
          </a:prstGeom>
          <a:solidFill>
            <a:srgbClr val="2A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00800" y="1920240"/>
            <a:ext cx="1755648" cy="228600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37960" y="210312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FFB454"/>
                </a:solidFill>
                <a:latin typeface="Segoe UI"/>
              </a:rPr>
              <a:t>4 · ALERT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514600"/>
            <a:ext cx="148132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FA0BD"/>
                </a:solidFill>
                <a:latin typeface="Segoe UI"/>
              </a:rPr>
              <a:t>Slack / webhook
+ alerts table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174736" y="2880360"/>
            <a:ext cx="164592" cy="365760"/>
          </a:xfrm>
          <a:prstGeom prst="rightArrow">
            <a:avLst/>
          </a:prstGeom>
          <a:solidFill>
            <a:srgbClr val="2A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21040" y="1920240"/>
            <a:ext cx="1755648" cy="228600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58200" y="210312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FD57A"/>
                </a:solidFill>
                <a:latin typeface="Segoe UI"/>
              </a:rPr>
              <a:t>5 · HEAL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2514600"/>
            <a:ext cx="148132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FA0BD"/>
                </a:solidFill>
                <a:latin typeface="Segoe UI"/>
              </a:rPr>
              <a:t>GitHub deploy hook
redeploys the cloud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10094976" y="2880360"/>
            <a:ext cx="164592" cy="365760"/>
          </a:xfrm>
          <a:prstGeom prst="rightArrow">
            <a:avLst/>
          </a:prstGeom>
          <a:solidFill>
            <a:srgbClr val="2A3A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241280" y="1920240"/>
            <a:ext cx="1755648" cy="228600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378440" y="2103120"/>
            <a:ext cx="1481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FD57A"/>
                </a:solidFill>
                <a:latin typeface="Segoe UI"/>
              </a:rPr>
              <a:t>6 · VERIFY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378440" y="2514600"/>
            <a:ext cx="1481328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FA0BD"/>
                </a:solidFill>
                <a:latin typeface="Segoe UI"/>
              </a:rPr>
              <a:t>re-probe → close
incident, log duration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66344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0E17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846320"/>
            <a:ext cx="103327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2FD57A"/>
                </a:solidFill>
                <a:latin typeface="Segoe UI"/>
              </a:rPr>
              <a:t>Outcome:  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E7EDF7"/>
                </a:solidFill>
                <a:latin typeface="Segoe UI"/>
              </a:rPr>
              <a:t>a full outage becomes a short blip, handled with zero human intervention. Each heal is recorded in failover_events and the incident timeline for evidence.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7EDF7"/>
                </a:solidFill>
                <a:latin typeface="Segoe UI"/>
              </a:rPr>
              <a:t>Real-time monitoring (v2.1)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54864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FA0BD"/>
                </a:solidFill>
                <a:latin typeface="Segoe UI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FA0BD"/>
                </a:solidFill>
                <a:latin typeface="Segoe UI"/>
              </a:rPr>
              <a:t>Aegis  ·  Self-Healing Multi-Cloud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1463040" cy="31750"/>
          </a:xfrm>
          <a:prstGeom prst="rect">
            <a:avLst/>
          </a:prstGeom>
          <a:solidFill>
            <a:srgbClr val="6E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606040" cy="132588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8FA0BD"/>
                </a:solidFill>
                <a:latin typeface="Segoe UI"/>
              </a:rPr>
              <a:t>PROBE INTERVAL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FD57A"/>
                </a:solidFill>
                <a:latin typeface="Segoe UI"/>
              </a:rPr>
              <a:t>10 sec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FA0BD"/>
                </a:solidFill>
                <a:latin typeface="Segoe UI"/>
              </a:rPr>
              <a:t>live cloud probes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828800"/>
            <a:ext cx="2606040" cy="132588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01168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8FA0BD"/>
                </a:solidFill>
                <a:latin typeface="Segoe UI"/>
              </a:rPr>
              <a:t>HISTORY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28600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6EA0FF"/>
                </a:solidFill>
                <a:latin typeface="Segoe UI"/>
              </a:rPr>
              <a:t>5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88036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FA0BD"/>
                </a:solidFill>
                <a:latin typeface="Segoe UI"/>
              </a:rPr>
              <a:t>cron → Supabase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828800"/>
            <a:ext cx="2606040" cy="132588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8FA0BD"/>
                </a:solidFill>
                <a:latin typeface="Segoe UI"/>
              </a:rPr>
              <a:t>PUSH 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28600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38C8DD"/>
                </a:solidFill>
                <a:latin typeface="Segoe UI"/>
              </a:rPr>
              <a:t>SSE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88036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FA0BD"/>
                </a:solidFill>
                <a:latin typeface="Segoe UI"/>
              </a:rPr>
              <a:t>Server-Sent Events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828800"/>
            <a:ext cx="2606040" cy="132588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201168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8FA0BD"/>
                </a:solidFill>
                <a:latin typeface="Segoe UI"/>
              </a:rPr>
              <a:t>SLA TARGET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28600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B454"/>
                </a:solidFill>
                <a:latin typeface="Segoe UI"/>
              </a:rPr>
              <a:t>99.9%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88036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FA0BD"/>
                </a:solidFill>
                <a:latin typeface="Segoe UI"/>
              </a:rPr>
              <a:t>Met / Near / At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520440"/>
            <a:ext cx="108813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6EA0FF"/>
                </a:solidFill>
                <a:latin typeface="Segoe UI"/>
              </a:rPr>
              <a:t>▸  </a:t>
            </a:r>
            <a:r>
              <a:rPr sz="1600" b="0">
                <a:solidFill>
                  <a:srgbClr val="E7EDF7"/>
                </a:solidFill>
                <a:latin typeface="Segoe UI"/>
              </a:rPr>
              <a:t>Server-Sent Events (/api/stream) push a fresh snapshot to every open dashboard every 10 s — the screen updates itself, no refresh.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6EA0FF"/>
                </a:solidFill>
                <a:latin typeface="Segoe UI"/>
              </a:rPr>
              <a:t>▸  </a:t>
            </a:r>
            <a:r>
              <a:rPr sz="1600" b="0">
                <a:solidFill>
                  <a:srgbClr val="E7EDF7"/>
                </a:solidFill>
                <a:latin typeface="Segoe UI"/>
              </a:rPr>
              <a:t>Live on-demand probes: the portal itself hits each cloud and shows status + latency as a pulsing strip.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6EA0FF"/>
                </a:solidFill>
                <a:latin typeface="Segoe UI"/>
              </a:rPr>
              <a:t>▸  </a:t>
            </a:r>
            <a:r>
              <a:rPr sz="1600" b="0">
                <a:solidFill>
                  <a:srgbClr val="E7EDF7"/>
                </a:solidFill>
                <a:latin typeface="Segoe UI"/>
              </a:rPr>
              <a:t>Live event feed: probes, routing decisions and incident changes scroll in a terminal-style log.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6EA0FF"/>
                </a:solidFill>
                <a:latin typeface="Segoe UI"/>
              </a:rPr>
              <a:t>▸  </a:t>
            </a:r>
            <a:r>
              <a:rPr sz="1600" b="0">
                <a:solidFill>
                  <a:srgbClr val="E7EDF7"/>
                </a:solidFill>
                <a:latin typeface="Segoe UI"/>
              </a:rPr>
              <a:t>Per-cloud extras: p50/p90/p95/p99, 24h latency trend arrows, sparklines, SLA vs 99.9%, embeddable SVG badges, CSV/JSON export, dark/light theme.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7EDF7"/>
                </a:solidFill>
                <a:latin typeface="Segoe UI"/>
              </a:rPr>
              <a:t>Intelligence layer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54864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FA0BD"/>
                </a:solidFill>
                <a:latin typeface="Segoe UI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FA0BD"/>
                </a:solidFill>
                <a:latin typeface="Segoe UI"/>
              </a:rPr>
              <a:t>Aegis  ·  Self-Healing Multi-Cloud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1463040" cy="31750"/>
          </a:xfrm>
          <a:prstGeom prst="rect">
            <a:avLst/>
          </a:prstGeom>
          <a:solidFill>
            <a:srgbClr val="6E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38528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6EA0FF"/>
                </a:solidFill>
                <a:latin typeface="Segoe UI"/>
              </a:rPr>
              <a:t>Anomaly detection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993392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FA0BD"/>
                </a:solidFill>
                <a:latin typeface="Segoe UI"/>
              </a:rPr>
              <a:t>Isolation Forest (Python, CI) + rolling z-score detector (JS, live) — flags a cloud BEFORE it fails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88036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990088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FD57A"/>
                </a:solidFill>
                <a:latin typeface="Segoe UI"/>
              </a:rPr>
              <a:t>Cost forecasting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31920" y="3044952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FA0BD"/>
                </a:solidFill>
                <a:latin typeface="Segoe UI"/>
              </a:rPr>
              <a:t>₹0/month operation vs ~$40/million single-cloud baseline; Cloud Run = $0.40/million beyond free tier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393192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041648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8C8DD"/>
                </a:solidFill>
                <a:latin typeface="Segoe UI"/>
              </a:rPr>
              <a:t>Carbon-aware 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4096512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FA0BD"/>
                </a:solidFill>
                <a:latin typeface="Segoe UI"/>
              </a:rPr>
              <a:t>grid intensity per region (live API or fallback averages) — greenest region wins ties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4983480"/>
            <a:ext cx="10881360" cy="91440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093208"/>
            <a:ext cx="28346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FFB454"/>
                </a:solidFill>
                <a:latin typeface="Segoe UI"/>
              </a:rPr>
              <a:t>Security &amp; tenancy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5148072"/>
            <a:ext cx="7315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FA0BD"/>
                </a:solidFill>
                <a:latin typeface="Segoe UI"/>
              </a:rPr>
              <a:t>Trivy + Checkov + OPA/Rego in CI · hashed API keys · per-key rate limiting · audit log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03504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FA0BD"/>
                </a:solidFill>
                <a:latin typeface="Segoe UI"/>
              </a:rPr>
              <a:t>Also: OpenAPI/Swagger API, automated daily/weekly reports, 30 unit tests, Docker Compose one-command run.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7EDF7"/>
                </a:solidFill>
                <a:latin typeface="Segoe UI"/>
              </a:rPr>
              <a:t>Live results (verified 2026-09-17)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54864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FA0BD"/>
                </a:solidFill>
                <a:latin typeface="Segoe UI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FA0BD"/>
                </a:solidFill>
                <a:latin typeface="Segoe UI"/>
              </a:rPr>
              <a:t>Aegis  ·  Self-Healing Multi-Cloud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1463040" cy="31750"/>
          </a:xfrm>
          <a:prstGeom prst="rect">
            <a:avLst/>
          </a:prstGeom>
          <a:solidFill>
            <a:srgbClr val="6E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2606040" cy="132588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01168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8FA0BD"/>
                </a:solidFill>
                <a:latin typeface="Segoe UI"/>
              </a:rPr>
              <a:t>CHECKS IN DB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28600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6EA0FF"/>
                </a:solidFill>
                <a:latin typeface="Segoe UI"/>
              </a:rPr>
              <a:t>866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88036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FA0BD"/>
                </a:solidFill>
                <a:latin typeface="Segoe UI"/>
              </a:rPr>
              <a:t>render 433 · vercel 433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3280" y="1828800"/>
            <a:ext cx="2606040" cy="132588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201168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8FA0BD"/>
                </a:solidFill>
                <a:latin typeface="Segoe UI"/>
              </a:rPr>
              <a:t>VERCEL SCORE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228600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FD57A"/>
                </a:solidFill>
                <a:latin typeface="Segoe UI"/>
              </a:rPr>
              <a:t>93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88036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FA0BD"/>
                </a:solidFill>
                <a:latin typeface="Segoe UI"/>
              </a:rPr>
              <a:t>Excellent · 100% uptime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828800"/>
            <a:ext cx="2606040" cy="132588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01168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8FA0BD"/>
                </a:solidFill>
                <a:latin typeface="Segoe UI"/>
              </a:rPr>
              <a:t>RENDER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28600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B454"/>
                </a:solidFill>
                <a:latin typeface="Segoe UI"/>
              </a:rPr>
              <a:t>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288036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FA0BD"/>
                </a:solidFill>
                <a:latin typeface="Segoe UI"/>
              </a:rPr>
              <a:t>Good · ~98% uptime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828800"/>
            <a:ext cx="2606040" cy="132588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201168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8FA0BD"/>
                </a:solidFill>
                <a:latin typeface="Segoe UI"/>
              </a:rPr>
              <a:t>TOTAL COST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2286000"/>
            <a:ext cx="2148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2FD57A"/>
                </a:solidFill>
                <a:latin typeface="Segoe UI"/>
              </a:rPr>
              <a:t>₹0/month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2880360"/>
            <a:ext cx="2148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100" b="0" i="0">
                <a:solidFill>
                  <a:srgbClr val="8FA0BD"/>
                </a:solidFill>
                <a:latin typeface="Segoe UI"/>
              </a:rPr>
              <a:t>all three free tiers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3474720"/>
            <a:ext cx="5303520" cy="274320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36118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7EDF7"/>
                </a:solidFill>
                <a:latin typeface="Segoe UI"/>
              </a:rPr>
              <a:t>Evidence collected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02336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 b="1">
                <a:solidFill>
                  <a:srgbClr val="6EA0FF"/>
                </a:solidFill>
                <a:latin typeface="Segoe UI"/>
              </a:rPr>
              <a:t>▸  </a:t>
            </a:r>
            <a:r>
              <a:rPr sz="1300" b="0">
                <a:solidFill>
                  <a:srgbClr val="E7EDF7"/>
                </a:solidFill>
                <a:latin typeface="Segoe UI"/>
              </a:rPr>
              <a:t>Router fails over to Vercel (score 93).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 b="1">
                <a:solidFill>
                  <a:srgbClr val="6EA0FF"/>
                </a:solidFill>
                <a:latin typeface="Segoe UI"/>
              </a:rPr>
              <a:t>▸  </a:t>
            </a:r>
            <a:r>
              <a:rPr sz="1300" b="0">
                <a:solidFill>
                  <a:srgbClr val="E7EDF7"/>
                </a:solidFill>
                <a:latin typeface="Segoe UI"/>
              </a:rPr>
              <a:t>Anomaly detector flagged Render cold-start spikes.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 b="1">
                <a:solidFill>
                  <a:srgbClr val="6EA0FF"/>
                </a:solidFill>
                <a:latin typeface="Segoe UI"/>
              </a:rPr>
              <a:t>▸  </a:t>
            </a:r>
            <a:r>
              <a:rPr sz="1300" b="0">
                <a:solidFill>
                  <a:srgbClr val="E7EDF7"/>
                </a:solidFill>
                <a:latin typeface="Segoe UI"/>
              </a:rPr>
              <a:t>30/30 tests green in GitHub Actions.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300" b="1">
                <a:solidFill>
                  <a:srgbClr val="6EA0FF"/>
                </a:solidFill>
                <a:latin typeface="Segoe UI"/>
              </a:rPr>
              <a:t>▸  </a:t>
            </a:r>
            <a:r>
              <a:rPr sz="1300" b="0">
                <a:solidFill>
                  <a:srgbClr val="E7EDF7"/>
                </a:solidFill>
                <a:latin typeface="Segoe UI"/>
              </a:rPr>
              <a:t>Incidents / alerts / audit tables recorded.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26480" y="3474720"/>
            <a:ext cx="5394960" cy="274320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361188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E7EDF7"/>
                </a:solidFill>
                <a:latin typeface="Segoe UI"/>
              </a:rPr>
              <a:t>URLs to show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023360"/>
            <a:ext cx="4754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 b="1">
                <a:solidFill>
                  <a:srgbClr val="6EA0FF"/>
                </a:solidFill>
                <a:latin typeface="Segoe UI"/>
              </a:rPr>
              <a:t>▸  </a:t>
            </a:r>
            <a:r>
              <a:rPr sz="1200" b="0">
                <a:solidFill>
                  <a:srgbClr val="E7EDF7"/>
                </a:solidFill>
                <a:latin typeface="Segoe UI"/>
              </a:rPr>
              <a:t>Router: aegis-router.manav32478.workers.dev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 b="1">
                <a:solidFill>
                  <a:srgbClr val="6EA0FF"/>
                </a:solidFill>
                <a:latin typeface="Segoe UI"/>
              </a:rPr>
              <a:t>▸  </a:t>
            </a:r>
            <a:r>
              <a:rPr sz="1200" b="0">
                <a:solidFill>
                  <a:srgbClr val="E7EDF7"/>
                </a:solidFill>
                <a:latin typeface="Segoe UI"/>
              </a:rPr>
              <a:t>Render: aegis-platform-pomf.onrender.com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 b="1">
                <a:solidFill>
                  <a:srgbClr val="6EA0FF"/>
                </a:solidFill>
                <a:latin typeface="Segoe UI"/>
              </a:rPr>
              <a:t>▸  </a:t>
            </a:r>
            <a:r>
              <a:rPr sz="1200" b="0">
                <a:solidFill>
                  <a:srgbClr val="E7EDF7"/>
                </a:solidFill>
                <a:latin typeface="Segoe UI"/>
              </a:rPr>
              <a:t>Vercel: aegis-platform-lyart.vercel.app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200" b="1">
                <a:solidFill>
                  <a:srgbClr val="6EA0FF"/>
                </a:solidFill>
                <a:latin typeface="Segoe UI"/>
              </a:rPr>
              <a:t>▸  </a:t>
            </a:r>
            <a:r>
              <a:rPr sz="1200" b="0">
                <a:solidFill>
                  <a:srgbClr val="E7EDF7"/>
                </a:solidFill>
                <a:latin typeface="Segoe UI"/>
              </a:rPr>
              <a:t>Repo: github.com/Manav32478/aegis-platform-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8229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E7EDF7"/>
                </a:solidFill>
                <a:latin typeface="Segoe UI"/>
              </a:rPr>
              <a:t>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81360" y="548640"/>
            <a:ext cx="822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FA0BD"/>
                </a:solidFill>
                <a:latin typeface="Segoe UI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8FA0BD"/>
                </a:solidFill>
                <a:latin typeface="Segoe UI"/>
              </a:rPr>
              <a:t>Aegis  ·  Self-Healing Multi-Cloud Platform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960120"/>
            <a:ext cx="1463040" cy="31750"/>
          </a:xfrm>
          <a:prstGeom prst="rect">
            <a:avLst/>
          </a:prstGeom>
          <a:solidFill>
            <a:srgbClr val="6EA0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108813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6EA0FF"/>
                </a:solidFill>
                <a:latin typeface="Segoe UI"/>
              </a:rPr>
              <a:t>▸  </a:t>
            </a:r>
            <a:r>
              <a:rPr sz="1600" b="0">
                <a:solidFill>
                  <a:srgbClr val="E7EDF7"/>
                </a:solidFill>
                <a:latin typeface="Segoe UI"/>
              </a:rPr>
              <a:t>Supabase Auth login + per-tenant dashboards (each API customer sees only their clouds).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6EA0FF"/>
                </a:solidFill>
                <a:latin typeface="Segoe UI"/>
              </a:rPr>
              <a:t>▸  </a:t>
            </a:r>
            <a:r>
              <a:rPr sz="1600" b="0">
                <a:solidFill>
                  <a:srgbClr val="E7EDF7"/>
                </a:solidFill>
                <a:latin typeface="Segoe UI"/>
              </a:rPr>
              <a:t>Move all Supabase writes behind an Edge Function with the service_role key — closes the demo-mode RLS gap.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6EA0FF"/>
                </a:solidFill>
                <a:latin typeface="Segoe UI"/>
              </a:rPr>
              <a:t>▸  </a:t>
            </a:r>
            <a:r>
              <a:rPr sz="1600" b="0">
                <a:solidFill>
                  <a:srgbClr val="E7EDF7"/>
                </a:solidFill>
                <a:latin typeface="Segoe UI"/>
              </a:rPr>
              <a:t>Synthetic transaction checks (login → dashboard → write) to catch “up but broken” clouds; TLS-certificate expiry monitoring.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6EA0FF"/>
                </a:solidFill>
                <a:latin typeface="Segoe UI"/>
              </a:rPr>
              <a:t>▸  </a:t>
            </a:r>
            <a:r>
              <a:rPr sz="1600" b="0">
                <a:solidFill>
                  <a:srgbClr val="E7EDF7"/>
                </a:solidFill>
                <a:latin typeface="Segoe UI"/>
              </a:rPr>
              <a:t>Auto-scaling rehearsal with k6 + a chaos button that kills a cloud on demand and films the recovery.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6EA0FF"/>
                </a:solidFill>
                <a:latin typeface="Segoe UI"/>
              </a:rPr>
              <a:t>▸  </a:t>
            </a:r>
            <a:r>
              <a:rPr sz="1600" b="0">
                <a:solidFill>
                  <a:srgbClr val="E7EDF7"/>
                </a:solidFill>
                <a:latin typeface="Segoe UI"/>
              </a:rPr>
              <a:t>ML-first failover: train on all tenants’ history, pre-warm the backup cloud before the failure; carbon-aware batch scheduling.</a:t>
            </a:r>
          </a:p>
          <a:p>
            <a:pPr>
              <a:lnSpc>
                <a:spcPct val="108000"/>
              </a:lnSpc>
              <a:spcAft>
                <a:spcPts val="900"/>
              </a:spcAft>
            </a:pPr>
            <a:r>
              <a:rPr sz="1600" b="1">
                <a:solidFill>
                  <a:srgbClr val="6EA0FF"/>
                </a:solidFill>
                <a:latin typeface="Segoe UI"/>
              </a:rPr>
              <a:t>▸  </a:t>
            </a:r>
            <a:r>
              <a:rPr sz="1600" b="0">
                <a:solidFill>
                  <a:srgbClr val="E7EDF7"/>
                </a:solidFill>
                <a:latin typeface="Segoe UI"/>
              </a:rPr>
              <a:t>Open-source release with a one-command installer; SOC2-style control mapping from the audit log.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8FA0BD"/>
                </a:solidFill>
                <a:latin typeface="Segoe UI"/>
              </a:rPr>
              <a:t>Honest limits (say these): single-tenant demo auth · in-memory rate limiting · illustrative cost baseline · 2 of 3 clouds deployed.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2194560"/>
            <a:ext cx="10515600" cy="2468880"/>
          </a:xfrm>
          <a:prstGeom prst="roundRect">
            <a:avLst>
              <a:gd name="adj" fmla="val 6000"/>
            </a:avLst>
          </a:prstGeom>
          <a:solidFill>
            <a:srgbClr val="141C2E"/>
          </a:solidFill>
          <a:ln w="9525">
            <a:solidFill>
              <a:srgbClr val="2A3A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E7EDF7"/>
                </a:solidFill>
                <a:latin typeface="Segoe UI"/>
              </a:rPr>
              <a:t>Questions?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611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8FA0BD"/>
                </a:solidFill>
                <a:latin typeface="Segoe UI"/>
              </a:rPr>
              <a:t>Aegis — Self-Healing Multi-Cloud Platform · Manav Sarvaiya · ₹0/month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