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6EBF5"/>
                </a:solidFill>
                <a:latin typeface="Segoe UI"/>
              </a:rPr>
              <a:t>AEGIS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DDC84"/>
                </a:solidFill>
                <a:latin typeface="Segoe UI"/>
              </a:rPr>
              <a:t>Self-Healing Multi-Cloud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8B96AD"/>
                </a:solidFill>
                <a:latin typeface="Segoe UI"/>
              </a:rPr>
              <a:t>One application · three cloud free tiers · automatic failover · $0 cost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8B96AD"/>
                </a:solidFill>
                <a:latin typeface="Segoe UI"/>
              </a:rPr>
              <a:t>Final Year Major Project — Evaluation 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BDC7DB"/>
                </a:solidFill>
                <a:latin typeface="Segoe UI"/>
              </a:rPr>
              <a:t>[Your Name]  ·  [College / Department]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DC84"/>
                </a:solidFill>
                <a:latin typeface="Segoe UI"/>
              </a:rPr>
              <a:t>WHY THIS PROJECT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6EBF5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t>▸  One cloud = one point of failure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A single provider outage takes your whole application down — you have no control and no recovery path.</a:t>
            </a:r>
          </a:p>
          <a:p>
            <a:pPr algn="l">
              <a:spcAft>
                <a:spcPts val="1200"/>
              </a:spcAft>
            </a:pPr>
            <a:r>
              <a:t>▸  Free tiers are free… but individually unreliable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Google Cloud Run, Oracle Always Free and Render each give real free hosting — but any one of them can sleep, throttle, or go down.</a:t>
            </a:r>
          </a:p>
          <a:p>
            <a:pPr algn="l">
              <a:spcAft>
                <a:spcPts val="1200"/>
              </a:spcAft>
            </a:pPr>
            <a:r>
              <a:t>▸  Outages cost money and trust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Downtime means lost users, lost revenue, and damaged reputation — especially for students and early startups with no budget.</a:t>
            </a:r>
          </a:p>
          <a:p>
            <a:pPr algn="l">
              <a:spcAft>
                <a:spcPts val="1200"/>
              </a:spcAft>
            </a:pPr>
            <a:r>
              <a:t>▸  Existing solutions are expensive or locked-in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Commercial multi-cloud/DR products cost real money and tie you to one vendor's tooling.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DC84"/>
                </a:solidFill>
                <a:latin typeface="Segoe UI"/>
              </a:rPr>
              <a:t>OUR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6EBF5"/>
                </a:solidFill>
                <a:latin typeface="Segoe UI"/>
              </a:rPr>
              <a:t>Run one app on 3 free tiers — and fail over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t>1.  Deploy the SAME app to 3 clouds' free tiers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Google Cloud Run · Oracle Always Free · Render — zero cost, no code changes (cloud name via env var).</a:t>
            </a:r>
          </a:p>
          <a:p>
            <a:pPr algn="l">
              <a:spcAft>
                <a:spcPts val="1200"/>
              </a:spcAft>
            </a:pPr>
            <a:r>
              <a:t>2.  Monitor every cloud every 5 minutes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A health monitor polls /health and stores history in Supabase.</a:t>
            </a:r>
          </a:p>
          <a:p>
            <a:pPr algn="l">
              <a:spcAft>
                <a:spcPts val="1200"/>
              </a:spcAft>
            </a:pPr>
            <a:r>
              <a:t>3.  Route through one smart entry point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A Cloudflare Worker always sends traffic to the healthiest cloud — failover in milliseconds, not minutes.</a:t>
            </a:r>
          </a:p>
          <a:p>
            <a:pPr algn="l">
              <a:spcAft>
                <a:spcPts val="1200"/>
              </a:spcAft>
            </a:pPr>
            <a:r>
              <a:t>4.  Add an intelligence layer on top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Cost savings, carbon-aware routing, policy-as-code, security scanning, and ML-based predictive failover.</a:t>
            </a:r>
          </a:p>
          <a:p>
            <a:pPr algn="l">
              <a:spcAft>
                <a:spcPts val="1200"/>
              </a:spcAft>
            </a:pPr>
            <a:r>
              <a:t>5.  Total running cost: $0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Everything runs inside free tiers — the whole point of the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DC84"/>
                </a:solidFill>
                <a:latin typeface="Segoe UI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6EBF5"/>
                </a:solidFill>
                <a:latin typeface="Segoe UI"/>
              </a:rPr>
              <a:t>Architecture — 5 layers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417320"/>
            <a:ext cx="6258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DC84"/>
                </a:solidFill>
                <a:latin typeface="Segoe UI"/>
              </a:rPr>
              <a:t>PROGRESS — MONTHS 1 TO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6EBF5"/>
                </a:solidFill>
                <a:latin typeface="Segoe UI"/>
              </a:rPr>
              <a:t>What's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3DDC84"/>
                </a:solidFill>
                <a:latin typeface="Segoe UI"/>
              </a:rPr>
              <a:t>✓  </a:t>
            </a:r>
            <a:r>
              <a:rPr sz="2000">
                <a:solidFill>
                  <a:srgbClr val="E6EBF5"/>
                </a:solidFill>
                <a:latin typeface="Segoe UI"/>
              </a:rPr>
              <a:t>Software Requirements Specification (SRS) + architecture diagrams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DDC84"/>
                </a:solidFill>
                <a:latin typeface="Segoe UI"/>
              </a:rPr>
              <a:t>✓  </a:t>
            </a:r>
            <a:r>
              <a:rPr sz="2000">
                <a:solidFill>
                  <a:srgbClr val="E6EBF5"/>
                </a:solidFill>
                <a:latin typeface="Segoe UI"/>
              </a:rPr>
              <a:t>Full repo structure + GitHub Projects board (6-month plan)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DDC84"/>
                </a:solidFill>
                <a:latin typeface="Segoe UI"/>
              </a:rPr>
              <a:t>✓  </a:t>
            </a:r>
            <a:r>
              <a:rPr sz="2000">
                <a:solidFill>
                  <a:srgbClr val="E6EBF5"/>
                </a:solidFill>
                <a:latin typeface="Segoe UI"/>
              </a:rPr>
              <a:t>Core app (Express) with /health contract + Dockerfile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DDC84"/>
                </a:solidFill>
                <a:latin typeface="Segoe UI"/>
              </a:rPr>
              <a:t>✓  </a:t>
            </a:r>
            <a:r>
              <a:rPr sz="2000">
                <a:solidFill>
                  <a:srgbClr val="E6EBF5"/>
                </a:solidFill>
                <a:latin typeface="Segoe UI"/>
              </a:rPr>
              <a:t>2 LIVE cloud deployments — Render + Vercel (both free tiers)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DDC84"/>
                </a:solidFill>
                <a:latin typeface="Segoe UI"/>
              </a:rPr>
              <a:t>✓  </a:t>
            </a:r>
            <a:r>
              <a:rPr sz="2000">
                <a:solidFill>
                  <a:srgbClr val="E6EBF5"/>
                </a:solidFill>
                <a:latin typeface="Segoe UI"/>
              </a:rPr>
              <a:t>https://aegis-platform-pomf.onrender.com/health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DDC84"/>
                </a:solidFill>
                <a:latin typeface="Segoe UI"/>
              </a:rPr>
              <a:t>✓  </a:t>
            </a:r>
            <a:r>
              <a:rPr sz="2000">
                <a:solidFill>
                  <a:srgbClr val="E6EBF5"/>
                </a:solidFill>
                <a:latin typeface="Segoe UI"/>
              </a:rPr>
              <a:t>https://aegis-platform-lyart.vercel.app/health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DDC84"/>
                </a:solidFill>
                <a:latin typeface="Segoe UI"/>
              </a:rPr>
              <a:t>✓  </a:t>
            </a:r>
            <a:r>
              <a:rPr sz="2000">
                <a:solidFill>
                  <a:srgbClr val="E6EBF5"/>
                </a:solidFill>
                <a:latin typeface="Segoe UI"/>
              </a:rPr>
              <a:t>FAILOVER ROUTER LIVE — https://aegis-router.manav32478.workers.dev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DDC84"/>
                </a:solidFill>
                <a:latin typeface="Segoe UI"/>
              </a:rPr>
              <a:t>✓  </a:t>
            </a:r>
            <a:r>
              <a:rPr sz="2000">
                <a:solidFill>
                  <a:srgbClr val="E6EBF5"/>
                </a:solidFill>
                <a:latin typeface="Segoe UI"/>
              </a:rPr>
              <a:t>Health monitor → Supabase (auto-runs every 5 min)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DDC84"/>
                </a:solidFill>
                <a:latin typeface="Segoe UI"/>
              </a:rPr>
              <a:t>✓  </a:t>
            </a:r>
            <a:r>
              <a:rPr sz="2000">
                <a:solidFill>
                  <a:srgbClr val="E6EBF5"/>
                </a:solidFill>
                <a:latin typeface="Segoe UI"/>
              </a:rPr>
              <a:t>Live status page on every cloud (/status)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DDC84"/>
                </a:solidFill>
                <a:latin typeface="Segoe UI"/>
              </a:rPr>
              <a:t>✓  </a:t>
            </a:r>
            <a:r>
              <a:rPr sz="2000">
                <a:solidFill>
                  <a:srgbClr val="E6EBF5"/>
                </a:solidFill>
                <a:latin typeface="Segoe UI"/>
              </a:rPr>
              <a:t>CI/CD pipelines: deploy · monitor · security scan · ML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FB454"/>
                </a:solidFill>
                <a:latin typeface="Segoe UI"/>
              </a:rPr>
              <a:t>◐  </a:t>
            </a:r>
            <a:r>
              <a:rPr sz="2000">
                <a:solidFill>
                  <a:srgbClr val="E6EBF5"/>
                </a:solidFill>
                <a:latin typeface="Segoe UI"/>
              </a:rPr>
              <a:t>GCP/Oracle optional · ML predictive failover next (Month 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DC84"/>
                </a:solidFill>
                <a:latin typeface="Segoe UI"/>
              </a:rPr>
              <a:t>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6EBF5"/>
                </a:solidFill>
                <a:latin typeface="Segoe UI"/>
              </a:rPr>
              <a:t>Live: watch failover happen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t>▶  Open the dashboard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node demo/server.js → localhost:8080 — three clouds, live latency chart.</a:t>
            </a:r>
          </a:p>
          <a:p>
            <a:pPr algn="l">
              <a:spcAft>
                <a:spcPts val="1200"/>
              </a:spcAft>
            </a:pPr>
            <a:r>
              <a:t>🔥  Press “Run chaos test”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A random cloud is forced down for 20 seconds.</a:t>
            </a:r>
          </a:p>
          <a:p>
            <a:pPr algn="l">
              <a:spcAft>
                <a:spcPts val="1200"/>
              </a:spcAft>
            </a:pPr>
            <a:r>
              <a:t>▶  Watch the router fail over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Traffic instantly moves to the next healthiest cloud — the app never goes down.</a:t>
            </a:r>
          </a:p>
          <a:p>
            <a:pPr algn="l">
              <a:spcAft>
                <a:spcPts val="1200"/>
              </a:spcAft>
            </a:pPr>
            <a:r>
              <a:t>▶  Same logic runs in production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The demo router is a direct port of the real Cloudflare Worker (orchestration/router/src/worker.js).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DC84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6EBF5"/>
                </a:solidFill>
                <a:latin typeface="Segoe UI"/>
              </a:rPr>
              <a:t>Measured failover from the running system</a:t>
            </a:r>
          </a:p>
        </p:txBody>
      </p:sp>
      <p:pic>
        <p:nvPicPr>
          <p:cNvPr id="4" name="Picture 3" descr="failover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50495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DC84"/>
                </a:solidFill>
                <a:latin typeface="Segoe UI"/>
              </a:rPr>
              <a:t>WHERE THIS GOES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6EBF5"/>
                </a:solidFill>
                <a:latin typeface="Segoe UI"/>
              </a:rPr>
              <a:t>Roadmap — Months 4 to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t>▸  Month 4 — Intelligence layer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Cost intelligence · carbon-aware routing · policy-as-code (OPA) · security scanning (Trivy/Checkov) · ML predictive failover (Isolation Forest).</a:t>
            </a:r>
          </a:p>
          <a:p>
            <a:pPr algn="l">
              <a:spcAft>
                <a:spcPts val="1200"/>
              </a:spcAft>
            </a:pPr>
            <a:r>
              <a:t>▸  Month 5 — Product layer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Auth + API keys (Supabase) · REST API with Swagger docs · public status page · load testing with k6.</a:t>
            </a:r>
          </a:p>
          <a:p>
            <a:pPr algn="l">
              <a:spcAft>
                <a:spcPts val="1200"/>
              </a:spcAft>
            </a:pPr>
            <a:r>
              <a:t>▸  Month 6 — Hardening &amp; defense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Unit test suite · final report · demo video · viva preparation.</a:t>
            </a:r>
          </a:p>
          <a:p>
            <a:pPr algn="l">
              <a:spcAft>
                <a:spcPts val="1200"/>
              </a:spcAft>
            </a:pPr>
            <a:r>
              <a:t>▸  Beyond — startup path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8B96AD"/>
                </a:solidFill>
                <a:latin typeface="Segoe UI"/>
              </a:rPr>
              <a:t>The platform + historical data become the first assets of a real product (Section 7 of the blueprint).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DC84"/>
                </a:solidFill>
                <a:latin typeface="Segoe UI"/>
              </a:rP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6EBF5"/>
                </a:solidFill>
                <a:latin typeface="Segoe UI"/>
              </a:rPr>
              <a:t>Why we chose these tools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5577840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9DB4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marT="76200" marB="76200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9DB4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T="76200" marB="76200">
                    <a:solidFill>
                      <a:srgbClr val="1C2A4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EBF5"/>
                          </a:solidFill>
                          <a:latin typeface="Segoe UI"/>
                        </a:rPr>
                        <a:t>Cloudflare Workers (not DNS failover)</a:t>
                      </a:r>
                    </a:p>
                  </a:txBody>
                  <a:tcPr marT="76200" marB="76200"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6EBF5"/>
                          </a:solidFill>
                          <a:latin typeface="Segoe UI"/>
                        </a:rPr>
                        <a:t>DNS TTL makes failover take minutes; a Worker retries other backends in milliseconds.</a:t>
                      </a:r>
                    </a:p>
                  </a:txBody>
                  <a:tcPr marT="76200" marB="76200">
                    <a:solidFill>
                      <a:srgbClr val="131A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EBF5"/>
                          </a:solidFill>
                          <a:latin typeface="Segoe UI"/>
                        </a:rPr>
                        <a:t>Supabase (Postgres)</a:t>
                      </a:r>
                    </a:p>
                  </a:txBody>
                  <a:tcPr marT="76200" marB="76200"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6EBF5"/>
                          </a:solidFill>
                          <a:latin typeface="Segoe UI"/>
                        </a:rPr>
                        <a:t>Free hosted database + auth; doubles as ML training data.</a:t>
                      </a:r>
                    </a:p>
                  </a:txBody>
                  <a:tcPr marT="76200" marB="76200">
                    <a:solidFill>
                      <a:srgbClr val="131A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EBF5"/>
                          </a:solidFill>
                          <a:latin typeface="Segoe UI"/>
                        </a:rPr>
                        <a:t>OPA / Rego policies</a:t>
                      </a:r>
                    </a:p>
                  </a:txBody>
                  <a:tcPr marT="76200" marB="76200"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6EBF5"/>
                          </a:solidFill>
                          <a:latin typeface="Segoe UI"/>
                        </a:rPr>
                        <a:t>Policy decoupled from code — new rules need no app change; auditable.</a:t>
                      </a:r>
                    </a:p>
                  </a:txBody>
                  <a:tcPr marT="76200" marB="76200">
                    <a:solidFill>
                      <a:srgbClr val="131A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EBF5"/>
                          </a:solidFill>
                          <a:latin typeface="Segoe UI"/>
                        </a:rPr>
                        <a:t>Isolation Forest (ML)</a:t>
                      </a:r>
                    </a:p>
                  </a:txBody>
                  <a:tcPr marT="76200" marB="76200"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6EBF5"/>
                          </a:solidFill>
                          <a:latin typeface="Segoe UI"/>
                        </a:rPr>
                        <a:t>Adapts to each cloud's normal latency instead of one fixed threshold.</a:t>
                      </a:r>
                    </a:p>
                  </a:txBody>
                  <a:tcPr marT="76200" marB="76200">
                    <a:solidFill>
                      <a:srgbClr val="131A2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EBF5"/>
                          </a:solidFill>
                          <a:latin typeface="Segoe UI"/>
                        </a:rPr>
                        <a:t>Docker + CI/CD</a:t>
                      </a:r>
                    </a:p>
                  </a:txBody>
                  <a:tcPr marT="76200" marB="76200"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6EBF5"/>
                          </a:solidFill>
                          <a:latin typeface="Segoe UI"/>
                        </a:rPr>
                        <a:t>Identical image on all 3 clouds; every push is scanned and deployed automatically.</a:t>
                      </a:r>
                    </a:p>
                  </a:txBody>
                  <a:tcPr marT="76200" marB="76200">
                    <a:solidFill>
                      <a:srgbClr val="131A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6EBF5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3DDC84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